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1338" y="870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BC6FAD3-23FC-35D1-6845-97CAA8623D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D5AF7667-D2FF-CF98-7685-AB9FBFB4A5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BB2D262-E1E9-2FE8-D5AE-91F29670B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B7454-F8C2-40ED-93F2-FC3C48C31225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71359EB-7363-6DDC-55DB-9CD6B7B24C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561B0F1-45A7-2CDD-7FE1-814F5CDE4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B630-2C2C-4A24-8FD6-0F79B6757A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239382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4E3BDDA-B81C-860A-C3AF-0367D9B99F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D83BB3A-E92F-F6A0-8763-34E4ADB522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90F5BC8-A00B-939C-DBFC-214255A49B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B7454-F8C2-40ED-93F2-FC3C48C31225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AEFD287-9737-2BDB-5B06-4FA8B79F7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B618A94-F3BE-6D25-0278-04FDAB010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B630-2C2C-4A24-8FD6-0F79B6757A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525821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51A931D-30A6-52AD-031D-A6755016A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C184D4-3B15-ACEF-B67B-53678343832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05AEFCF-2A3A-0D8E-E0B8-09132C6F29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B7454-F8C2-40ED-93F2-FC3C48C31225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43C591-B65E-988F-A403-453E133EC9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ECEB8823-DBA2-2CAB-2D36-4ECFC57396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B630-2C2C-4A24-8FD6-0F79B6757A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18508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0348B3-1059-B0A0-DA53-99C4123D97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244D5A6-FA54-E8EF-8A5E-B55D70D20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9F64536-832A-595C-08C9-0942C89065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FD4AB25-0218-BA34-C3AB-34E857E941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B7454-F8C2-40ED-93F2-FC3C48C31225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4F6531B-D2EC-F817-66D7-DB3EBB7C3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2674C49-EFBC-710F-4F90-1BCE2F3F4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B630-2C2C-4A24-8FD6-0F79B6757A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134459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C91E912-AD09-66C4-BB90-22EEB2A1DD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4F3539F3-0E50-7EA3-900C-D61712296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FDC37A2-652C-8124-C6E7-77A9F8505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6B373CD-BE18-88DC-3E5D-4A5B13EC7E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063416B-8033-512F-039A-B370041529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9AAED2DB-5140-81CC-7A11-6D216E091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B7454-F8C2-40ED-93F2-FC3C48C31225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D34E924-E06A-D009-D16A-5A78C09E03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99AB113-92DE-4480-4DA8-5AE12B6FE0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B630-2C2C-4A24-8FD6-0F79B6757A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259540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29E2D2-1730-BAA7-FF2B-ED086D815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99C9C35-D245-978D-05E7-9E34E1FAD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B7454-F8C2-40ED-93F2-FC3C48C31225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AD48F79B-873D-AC29-FCFE-CD3DBAE40B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3602EBBE-68E9-1B67-3CB0-F79B21D15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B630-2C2C-4A24-8FD6-0F79B6757A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48136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4B2DC083-3D90-4D59-8362-E8BBB3FA8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B7454-F8C2-40ED-93F2-FC3C48C31225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39155483-A8A7-9024-5AE3-94FF599566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2B16216-0739-B077-FC2E-CCA147C01B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B630-2C2C-4A24-8FD6-0F79B6757A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946650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A3FC31-7CB0-4C4A-7F60-78968A8E4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E8173C7-3CA4-856C-BE9A-F328365D44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78BE79D3-F7D4-239E-CED1-70262C107D3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3767E13-68B2-2360-CA33-E7D0D25340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B7454-F8C2-40ED-93F2-FC3C48C31225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894BF1E-1FBD-6264-A74D-6393B85257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5DA6E0-2937-8324-D789-24C2DD95C0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B630-2C2C-4A24-8FD6-0F79B6757A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558610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E3F069A-25A5-5AB1-607B-0EB8771025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926742E2-C59E-632D-727B-D8935E44A9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44B80A43-59A3-B980-F616-96612C06D5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73AAA927-3100-BF47-E8E5-EE43B77CB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B7454-F8C2-40ED-93F2-FC3C48C31225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FC219D4D-33A5-A106-2BF5-AC4EDDB1C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FCA8843E-3AE0-1F64-FE0C-BB9EA3A949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B630-2C2C-4A24-8FD6-0F79B6757A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20711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8B96BCA-19CA-CDF1-AE73-FA2C9BA60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2B70BA9A-A27E-C6AB-FE8D-C66838061B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22FECCE-CEE2-5EAC-164F-D12A61039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B7454-F8C2-40ED-93F2-FC3C48C31225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2008398-63CF-4DF6-1013-613E5C9F3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AD8BB52-EEBA-F504-750A-190E22176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B630-2C2C-4A24-8FD6-0F79B6757A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949085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30594B57-4CD6-C544-47CB-6B3A9694D1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BD79630D-F766-21F2-C70D-23B465A890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7C4F70-D3B3-FBFF-9789-3DCE5BA42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DB7454-F8C2-40ED-93F2-FC3C48C31225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F7D4B1D-4B44-42D4-2CC5-0F8AD7ED0F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EA558CA-3B02-24B0-FA40-7270B53E56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FEB630-2C2C-4A24-8FD6-0F79B6757A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30885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F8325A7F-AED2-61F1-6996-19E7C089E4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262785C-1628-7FD6-47DD-F3E6BE33D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6FF8C68-646A-D931-52DD-687E10A123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3DB7454-F8C2-40ED-93F2-FC3C48C31225}" type="datetimeFigureOut">
              <a:rPr lang="de-DE" smtClean="0"/>
              <a:t>09.11.2025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B5F7044-9392-45F3-6813-C5ECB4118BC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6676E5B-0526-8FBC-CB27-65D24A0172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0FEB630-2C2C-4A24-8FD6-0F79B6757A6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171293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C7552903-63D3-780F-9C82-0732000156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3046" y="1286074"/>
            <a:ext cx="5573950" cy="3898253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407E5528-7006-0FF5-101E-1D13890AC902}"/>
              </a:ext>
            </a:extLst>
          </p:cNvPr>
          <p:cNvSpPr txBox="1"/>
          <p:nvPr/>
        </p:nvSpPr>
        <p:spPr>
          <a:xfrm>
            <a:off x="4571601" y="4628560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1_GND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961CAF30-EB83-E913-F93D-11A310B638DE}"/>
              </a:ext>
            </a:extLst>
          </p:cNvPr>
          <p:cNvSpPr txBox="1"/>
          <p:nvPr/>
        </p:nvSpPr>
        <p:spPr>
          <a:xfrm>
            <a:off x="4642133" y="4391588"/>
            <a:ext cx="590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5_+5V</a:t>
            </a: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236BCBCE-9C6F-D365-362E-C5A4906C204F}"/>
              </a:ext>
            </a:extLst>
          </p:cNvPr>
          <p:cNvSpPr txBox="1"/>
          <p:nvPr/>
        </p:nvSpPr>
        <p:spPr>
          <a:xfrm>
            <a:off x="4138597" y="4154617"/>
            <a:ext cx="1093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4_quad. PAS1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35EA7793-C7CE-FD4E-C610-DF233B63206F}"/>
              </a:ext>
            </a:extLst>
          </p:cNvPr>
          <p:cNvSpPr txBox="1"/>
          <p:nvPr/>
        </p:nvSpPr>
        <p:spPr>
          <a:xfrm>
            <a:off x="4138597" y="3917646"/>
            <a:ext cx="1093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6_quad. PAS2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A33E27C7-A8EF-494D-AD85-6F7EE297F980}"/>
              </a:ext>
            </a:extLst>
          </p:cNvPr>
          <p:cNvSpPr txBox="1"/>
          <p:nvPr/>
        </p:nvSpPr>
        <p:spPr>
          <a:xfrm>
            <a:off x="4265042" y="3680675"/>
            <a:ext cx="967317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2_speed/dir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1B22092E-B3D4-F693-C425-B41245F11413}"/>
              </a:ext>
            </a:extLst>
          </p:cNvPr>
          <p:cNvSpPr txBox="1"/>
          <p:nvPr/>
        </p:nvSpPr>
        <p:spPr>
          <a:xfrm>
            <a:off x="4457467" y="3443704"/>
            <a:ext cx="77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3_torque</a:t>
            </a:r>
          </a:p>
        </p:txBody>
      </p:sp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6A89645C-0914-9670-CE00-4A4ABC18DD12}"/>
              </a:ext>
            </a:extLst>
          </p:cNvPr>
          <p:cNvCxnSpPr>
            <a:cxnSpLocks/>
          </p:cNvCxnSpPr>
          <p:nvPr/>
        </p:nvCxnSpPr>
        <p:spPr>
          <a:xfrm flipV="1">
            <a:off x="6718010" y="4431616"/>
            <a:ext cx="443060" cy="93292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feld 13">
            <a:extLst>
              <a:ext uri="{FF2B5EF4-FFF2-40B4-BE49-F238E27FC236}">
                <a16:creationId xmlns:a16="http://schemas.microsoft.com/office/drawing/2014/main" id="{C5518626-DCA8-0EE0-B73F-8AB0B563A02C}"/>
              </a:ext>
            </a:extLst>
          </p:cNvPr>
          <p:cNvSpPr txBox="1"/>
          <p:nvPr/>
        </p:nvSpPr>
        <p:spPr>
          <a:xfrm>
            <a:off x="5674787" y="5364536"/>
            <a:ext cx="11374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Poti für Torque</a:t>
            </a:r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2EAA364B-B301-287B-1428-317BAF64036B}"/>
              </a:ext>
            </a:extLst>
          </p:cNvPr>
          <p:cNvCxnSpPr>
            <a:cxnSpLocks/>
          </p:cNvCxnSpPr>
          <p:nvPr/>
        </p:nvCxnSpPr>
        <p:spPr>
          <a:xfrm flipH="1" flipV="1">
            <a:off x="8672386" y="4431616"/>
            <a:ext cx="573293" cy="113019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7449BD8A-EE84-CD24-B368-E625FB48B4C6}"/>
              </a:ext>
            </a:extLst>
          </p:cNvPr>
          <p:cNvSpPr txBox="1"/>
          <p:nvPr/>
        </p:nvSpPr>
        <p:spPr>
          <a:xfrm>
            <a:off x="8758355" y="5545863"/>
            <a:ext cx="117666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Poti für Kadenz</a:t>
            </a:r>
          </a:p>
        </p:txBody>
      </p:sp>
      <p:cxnSp>
        <p:nvCxnSpPr>
          <p:cNvPr id="22" name="Gerade Verbindung mit Pfeil 21">
            <a:extLst>
              <a:ext uri="{FF2B5EF4-FFF2-40B4-BE49-F238E27FC236}">
                <a16:creationId xmlns:a16="http://schemas.microsoft.com/office/drawing/2014/main" id="{5552CB33-E871-8244-C031-0D440ED979AF}"/>
              </a:ext>
            </a:extLst>
          </p:cNvPr>
          <p:cNvCxnSpPr>
            <a:cxnSpLocks/>
          </p:cNvCxnSpPr>
          <p:nvPr/>
        </p:nvCxnSpPr>
        <p:spPr>
          <a:xfrm flipH="1" flipV="1">
            <a:off x="9567933" y="2603294"/>
            <a:ext cx="1648223" cy="7367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feld 22">
            <a:extLst>
              <a:ext uri="{FF2B5EF4-FFF2-40B4-BE49-F238E27FC236}">
                <a16:creationId xmlns:a16="http://schemas.microsoft.com/office/drawing/2014/main" id="{2F5653BE-679F-665F-4CCB-1155736E72F5}"/>
              </a:ext>
            </a:extLst>
          </p:cNvPr>
          <p:cNvSpPr txBox="1"/>
          <p:nvPr/>
        </p:nvSpPr>
        <p:spPr>
          <a:xfrm>
            <a:off x="10756996" y="3358485"/>
            <a:ext cx="133857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200" dirty="0"/>
              <a:t>Start/</a:t>
            </a:r>
            <a:r>
              <a:rPr lang="de-DE" sz="1200" dirty="0" err="1"/>
              <a:t>Stop</a:t>
            </a:r>
            <a:r>
              <a:rPr lang="de-DE" sz="1200" dirty="0"/>
              <a:t> Button</a:t>
            </a:r>
          </a:p>
        </p:txBody>
      </p:sp>
      <p:cxnSp>
        <p:nvCxnSpPr>
          <p:cNvPr id="25" name="Gerade Verbindung mit Pfeil 24">
            <a:extLst>
              <a:ext uri="{FF2B5EF4-FFF2-40B4-BE49-F238E27FC236}">
                <a16:creationId xmlns:a16="http://schemas.microsoft.com/office/drawing/2014/main" id="{5A57C12C-7EED-56C2-D569-82E3657F1686}"/>
              </a:ext>
            </a:extLst>
          </p:cNvPr>
          <p:cNvCxnSpPr>
            <a:cxnSpLocks/>
          </p:cNvCxnSpPr>
          <p:nvPr/>
        </p:nvCxnSpPr>
        <p:spPr>
          <a:xfrm flipH="1" flipV="1">
            <a:off x="9617246" y="2875150"/>
            <a:ext cx="1236182" cy="90030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feld 25">
            <a:extLst>
              <a:ext uri="{FF2B5EF4-FFF2-40B4-BE49-F238E27FC236}">
                <a16:creationId xmlns:a16="http://schemas.microsoft.com/office/drawing/2014/main" id="{E065841D-9A72-DF52-F27B-4342B94BE19E}"/>
              </a:ext>
            </a:extLst>
          </p:cNvPr>
          <p:cNvSpPr txBox="1"/>
          <p:nvPr/>
        </p:nvSpPr>
        <p:spPr>
          <a:xfrm>
            <a:off x="10853428" y="3812326"/>
            <a:ext cx="1338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Power LED</a:t>
            </a:r>
          </a:p>
        </p:txBody>
      </p:sp>
      <p:cxnSp>
        <p:nvCxnSpPr>
          <p:cNvPr id="30" name="Gerade Verbindung mit Pfeil 29">
            <a:extLst>
              <a:ext uri="{FF2B5EF4-FFF2-40B4-BE49-F238E27FC236}">
                <a16:creationId xmlns:a16="http://schemas.microsoft.com/office/drawing/2014/main" id="{E962A71D-F770-2C55-468D-621BA9BF773F}"/>
              </a:ext>
            </a:extLst>
          </p:cNvPr>
          <p:cNvCxnSpPr>
            <a:cxnSpLocks/>
          </p:cNvCxnSpPr>
          <p:nvPr/>
        </p:nvCxnSpPr>
        <p:spPr>
          <a:xfrm flipH="1">
            <a:off x="9480064" y="813802"/>
            <a:ext cx="1137694" cy="106213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feld 30">
            <a:extLst>
              <a:ext uri="{FF2B5EF4-FFF2-40B4-BE49-F238E27FC236}">
                <a16:creationId xmlns:a16="http://schemas.microsoft.com/office/drawing/2014/main" id="{E1855A9C-A679-C0DB-EDAD-3279D77347CB}"/>
              </a:ext>
            </a:extLst>
          </p:cNvPr>
          <p:cNvSpPr txBox="1"/>
          <p:nvPr/>
        </p:nvSpPr>
        <p:spPr>
          <a:xfrm>
            <a:off x="10392044" y="539375"/>
            <a:ext cx="133857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Kadenz LED</a:t>
            </a:r>
          </a:p>
        </p:txBody>
      </p:sp>
      <p:cxnSp>
        <p:nvCxnSpPr>
          <p:cNvPr id="33" name="Gerade Verbindung mit Pfeil 32">
            <a:extLst>
              <a:ext uri="{FF2B5EF4-FFF2-40B4-BE49-F238E27FC236}">
                <a16:creationId xmlns:a16="http://schemas.microsoft.com/office/drawing/2014/main" id="{861846F4-9F15-5C95-D6CF-D31C2C92B8C4}"/>
              </a:ext>
            </a:extLst>
          </p:cNvPr>
          <p:cNvCxnSpPr>
            <a:cxnSpLocks/>
          </p:cNvCxnSpPr>
          <p:nvPr/>
        </p:nvCxnSpPr>
        <p:spPr>
          <a:xfrm>
            <a:off x="4417328" y="2133716"/>
            <a:ext cx="1452270" cy="252022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feld 33">
            <a:extLst>
              <a:ext uri="{FF2B5EF4-FFF2-40B4-BE49-F238E27FC236}">
                <a16:creationId xmlns:a16="http://schemas.microsoft.com/office/drawing/2014/main" id="{1A190058-0014-FCE6-A041-82E18D8E16E8}"/>
              </a:ext>
            </a:extLst>
          </p:cNvPr>
          <p:cNvSpPr txBox="1"/>
          <p:nvPr/>
        </p:nvSpPr>
        <p:spPr>
          <a:xfrm>
            <a:off x="3398393" y="1975578"/>
            <a:ext cx="133857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200" dirty="0"/>
              <a:t>USB-C für </a:t>
            </a:r>
            <a:r>
              <a:rPr lang="de-DE" sz="1200" dirty="0" err="1"/>
              <a:t>digitatle</a:t>
            </a:r>
            <a:r>
              <a:rPr lang="de-DE" sz="1200" dirty="0"/>
              <a:t> Ausgabe der Parameter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373731E-AF64-470E-AFD2-9AEA6B86D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758" y="4905559"/>
            <a:ext cx="4551390" cy="18787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36452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>
            <a:extLst>
              <a:ext uri="{FF2B5EF4-FFF2-40B4-BE49-F238E27FC236}">
                <a16:creationId xmlns:a16="http://schemas.microsoft.com/office/drawing/2014/main" id="{0DA1DDCA-9DBD-4145-BBF3-F18BF1DE90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09" r="2809"/>
          <a:stretch>
            <a:fillRect/>
          </a:stretch>
        </p:blipFill>
        <p:spPr>
          <a:xfrm>
            <a:off x="3006246" y="1274323"/>
            <a:ext cx="5569660" cy="4309353"/>
          </a:xfrm>
          <a:prstGeom prst="rect">
            <a:avLst/>
          </a:prstGeom>
        </p:spPr>
      </p:pic>
      <p:cxnSp>
        <p:nvCxnSpPr>
          <p:cNvPr id="7" name="Gerade Verbindung mit Pfeil 6">
            <a:extLst>
              <a:ext uri="{FF2B5EF4-FFF2-40B4-BE49-F238E27FC236}">
                <a16:creationId xmlns:a16="http://schemas.microsoft.com/office/drawing/2014/main" id="{5530871E-C596-718D-1EFA-DBBA18EFB2B6}"/>
              </a:ext>
            </a:extLst>
          </p:cNvPr>
          <p:cNvCxnSpPr/>
          <p:nvPr/>
        </p:nvCxnSpPr>
        <p:spPr>
          <a:xfrm flipH="1">
            <a:off x="7042826" y="885217"/>
            <a:ext cx="680936" cy="113813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feld 7">
            <a:extLst>
              <a:ext uri="{FF2B5EF4-FFF2-40B4-BE49-F238E27FC236}">
                <a16:creationId xmlns:a16="http://schemas.microsoft.com/office/drawing/2014/main" id="{DBD1B295-7A95-59F8-E740-D1B28F763FCF}"/>
              </a:ext>
            </a:extLst>
          </p:cNvPr>
          <p:cNvSpPr txBox="1"/>
          <p:nvPr/>
        </p:nvSpPr>
        <p:spPr>
          <a:xfrm>
            <a:off x="7645138" y="565608"/>
            <a:ext cx="12455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Power LED</a:t>
            </a:r>
          </a:p>
        </p:txBody>
      </p:sp>
      <p:cxnSp>
        <p:nvCxnSpPr>
          <p:cNvPr id="9" name="Gerade Verbindung mit Pfeil 8">
            <a:extLst>
              <a:ext uri="{FF2B5EF4-FFF2-40B4-BE49-F238E27FC236}">
                <a16:creationId xmlns:a16="http://schemas.microsoft.com/office/drawing/2014/main" id="{FBECA1B9-F3A8-CB31-749F-D23DE1F6A077}"/>
              </a:ext>
            </a:extLst>
          </p:cNvPr>
          <p:cNvCxnSpPr>
            <a:cxnSpLocks/>
          </p:cNvCxnSpPr>
          <p:nvPr/>
        </p:nvCxnSpPr>
        <p:spPr>
          <a:xfrm flipH="1" flipV="1">
            <a:off x="7042826" y="2592421"/>
            <a:ext cx="1969199" cy="33938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3A7803B1-4B1E-2F06-4198-DD7EAFB6CF28}"/>
              </a:ext>
            </a:extLst>
          </p:cNvPr>
          <p:cNvSpPr txBox="1"/>
          <p:nvPr/>
        </p:nvSpPr>
        <p:spPr>
          <a:xfrm>
            <a:off x="9012025" y="2747138"/>
            <a:ext cx="15392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 err="1"/>
              <a:t>Cadence</a:t>
            </a:r>
            <a:r>
              <a:rPr lang="de-DE" dirty="0"/>
              <a:t> LED</a:t>
            </a:r>
          </a:p>
        </p:txBody>
      </p:sp>
      <p:cxnSp>
        <p:nvCxnSpPr>
          <p:cNvPr id="12" name="Gerade Verbindung mit Pfeil 11">
            <a:extLst>
              <a:ext uri="{FF2B5EF4-FFF2-40B4-BE49-F238E27FC236}">
                <a16:creationId xmlns:a16="http://schemas.microsoft.com/office/drawing/2014/main" id="{E104D0D1-2E94-44A1-8673-3E644FC52439}"/>
              </a:ext>
            </a:extLst>
          </p:cNvPr>
          <p:cNvCxnSpPr>
            <a:cxnSpLocks/>
          </p:cNvCxnSpPr>
          <p:nvPr/>
        </p:nvCxnSpPr>
        <p:spPr>
          <a:xfrm flipH="1" flipV="1">
            <a:off x="7947800" y="4065236"/>
            <a:ext cx="1064225" cy="154717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feld 12">
            <a:extLst>
              <a:ext uri="{FF2B5EF4-FFF2-40B4-BE49-F238E27FC236}">
                <a16:creationId xmlns:a16="http://schemas.microsoft.com/office/drawing/2014/main" id="{D3E6CAE9-890D-D6C3-792D-498DAC250DB3}"/>
              </a:ext>
            </a:extLst>
          </p:cNvPr>
          <p:cNvSpPr txBox="1"/>
          <p:nvPr/>
        </p:nvSpPr>
        <p:spPr>
          <a:xfrm>
            <a:off x="8890672" y="4207271"/>
            <a:ext cx="24513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CAN Transceiver </a:t>
            </a:r>
            <a:r>
              <a:rPr lang="de-DE" dirty="0" err="1"/>
              <a:t>board</a:t>
            </a:r>
            <a:endParaRPr lang="de-DE" dirty="0"/>
          </a:p>
        </p:txBody>
      </p:sp>
      <p:cxnSp>
        <p:nvCxnSpPr>
          <p:cNvPr id="15" name="Gerade Verbindung mit Pfeil 14">
            <a:extLst>
              <a:ext uri="{FF2B5EF4-FFF2-40B4-BE49-F238E27FC236}">
                <a16:creationId xmlns:a16="http://schemas.microsoft.com/office/drawing/2014/main" id="{0A87C11C-AE1D-2912-CB2C-DE93ADA3FEAD}"/>
              </a:ext>
            </a:extLst>
          </p:cNvPr>
          <p:cNvCxnSpPr>
            <a:cxnSpLocks/>
          </p:cNvCxnSpPr>
          <p:nvPr/>
        </p:nvCxnSpPr>
        <p:spPr>
          <a:xfrm flipH="1" flipV="1">
            <a:off x="6843464" y="4589285"/>
            <a:ext cx="457614" cy="104110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feld 15">
            <a:extLst>
              <a:ext uri="{FF2B5EF4-FFF2-40B4-BE49-F238E27FC236}">
                <a16:creationId xmlns:a16="http://schemas.microsoft.com/office/drawing/2014/main" id="{C90B29E9-62FA-EABF-33CF-0863CDE320EF}"/>
              </a:ext>
            </a:extLst>
          </p:cNvPr>
          <p:cNvSpPr txBox="1"/>
          <p:nvPr/>
        </p:nvSpPr>
        <p:spPr>
          <a:xfrm>
            <a:off x="7179725" y="5617709"/>
            <a:ext cx="19042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Start/</a:t>
            </a:r>
            <a:r>
              <a:rPr lang="de-DE" dirty="0" err="1"/>
              <a:t>Stop</a:t>
            </a:r>
            <a:r>
              <a:rPr lang="de-DE" dirty="0"/>
              <a:t> </a:t>
            </a:r>
            <a:r>
              <a:rPr lang="de-DE" dirty="0" err="1"/>
              <a:t>button</a:t>
            </a:r>
            <a:endParaRPr lang="de-DE" dirty="0"/>
          </a:p>
        </p:txBody>
      </p:sp>
      <p:cxnSp>
        <p:nvCxnSpPr>
          <p:cNvPr id="18" name="Gerade Verbindung mit Pfeil 17">
            <a:extLst>
              <a:ext uri="{FF2B5EF4-FFF2-40B4-BE49-F238E27FC236}">
                <a16:creationId xmlns:a16="http://schemas.microsoft.com/office/drawing/2014/main" id="{54C98B91-08C6-840E-436A-5C01A17A0C17}"/>
              </a:ext>
            </a:extLst>
          </p:cNvPr>
          <p:cNvCxnSpPr>
            <a:cxnSpLocks/>
          </p:cNvCxnSpPr>
          <p:nvPr/>
        </p:nvCxnSpPr>
        <p:spPr>
          <a:xfrm flipH="1" flipV="1">
            <a:off x="5303440" y="4315782"/>
            <a:ext cx="286655" cy="148659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feld 18">
            <a:extLst>
              <a:ext uri="{FF2B5EF4-FFF2-40B4-BE49-F238E27FC236}">
                <a16:creationId xmlns:a16="http://schemas.microsoft.com/office/drawing/2014/main" id="{9C74AF32-FBE5-4281-2823-49D9BA594E8F}"/>
              </a:ext>
            </a:extLst>
          </p:cNvPr>
          <p:cNvSpPr txBox="1"/>
          <p:nvPr/>
        </p:nvSpPr>
        <p:spPr>
          <a:xfrm>
            <a:off x="5139071" y="5916095"/>
            <a:ext cx="1793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Poti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cadence</a:t>
            </a:r>
            <a:endParaRPr lang="de-DE" dirty="0"/>
          </a:p>
        </p:txBody>
      </p:sp>
      <p:cxnSp>
        <p:nvCxnSpPr>
          <p:cNvPr id="21" name="Gerade Verbindung mit Pfeil 20">
            <a:extLst>
              <a:ext uri="{FF2B5EF4-FFF2-40B4-BE49-F238E27FC236}">
                <a16:creationId xmlns:a16="http://schemas.microsoft.com/office/drawing/2014/main" id="{49A2E71F-4F66-7619-B6B9-4092FF17EF4A}"/>
              </a:ext>
            </a:extLst>
          </p:cNvPr>
          <p:cNvCxnSpPr>
            <a:cxnSpLocks/>
          </p:cNvCxnSpPr>
          <p:nvPr/>
        </p:nvCxnSpPr>
        <p:spPr>
          <a:xfrm flipV="1">
            <a:off x="3928631" y="4315782"/>
            <a:ext cx="281544" cy="1486593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feld 21">
            <a:extLst>
              <a:ext uri="{FF2B5EF4-FFF2-40B4-BE49-F238E27FC236}">
                <a16:creationId xmlns:a16="http://schemas.microsoft.com/office/drawing/2014/main" id="{5A796787-EE40-7E1C-C493-73C515E4BC2D}"/>
              </a:ext>
            </a:extLst>
          </p:cNvPr>
          <p:cNvSpPr txBox="1"/>
          <p:nvPr/>
        </p:nvSpPr>
        <p:spPr>
          <a:xfrm>
            <a:off x="3221767" y="5807864"/>
            <a:ext cx="15826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Poti </a:t>
            </a:r>
            <a:r>
              <a:rPr lang="de-DE" dirty="0" err="1"/>
              <a:t>for</a:t>
            </a:r>
            <a:r>
              <a:rPr lang="de-DE" dirty="0"/>
              <a:t> </a:t>
            </a:r>
            <a:r>
              <a:rPr lang="de-DE" dirty="0" err="1"/>
              <a:t>torque</a:t>
            </a:r>
            <a:endParaRPr lang="de-DE" dirty="0"/>
          </a:p>
        </p:txBody>
      </p:sp>
      <p:cxnSp>
        <p:nvCxnSpPr>
          <p:cNvPr id="24" name="Gerade Verbindung mit Pfeil 23">
            <a:extLst>
              <a:ext uri="{FF2B5EF4-FFF2-40B4-BE49-F238E27FC236}">
                <a16:creationId xmlns:a16="http://schemas.microsoft.com/office/drawing/2014/main" id="{611AAC7C-1337-9281-D325-A1B475A509DD}"/>
              </a:ext>
            </a:extLst>
          </p:cNvPr>
          <p:cNvCxnSpPr>
            <a:cxnSpLocks/>
          </p:cNvCxnSpPr>
          <p:nvPr/>
        </p:nvCxnSpPr>
        <p:spPr>
          <a:xfrm flipV="1">
            <a:off x="2339001" y="4769963"/>
            <a:ext cx="988661" cy="38608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feld 24">
            <a:extLst>
              <a:ext uri="{FF2B5EF4-FFF2-40B4-BE49-F238E27FC236}">
                <a16:creationId xmlns:a16="http://schemas.microsoft.com/office/drawing/2014/main" id="{D2BC219C-566E-53DC-4DEB-5BAB1BA879BD}"/>
              </a:ext>
            </a:extLst>
          </p:cNvPr>
          <p:cNvSpPr txBox="1"/>
          <p:nvPr/>
        </p:nvSpPr>
        <p:spPr>
          <a:xfrm>
            <a:off x="832538" y="5156044"/>
            <a:ext cx="18293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Header </a:t>
            </a:r>
            <a:r>
              <a:rPr lang="de-DE" dirty="0" err="1"/>
              <a:t>for</a:t>
            </a:r>
            <a:r>
              <a:rPr lang="de-DE" dirty="0"/>
              <a:t> </a:t>
            </a:r>
          </a:p>
          <a:p>
            <a:r>
              <a:rPr lang="de-DE" dirty="0" err="1"/>
              <a:t>analogue</a:t>
            </a:r>
            <a:r>
              <a:rPr lang="de-DE" dirty="0"/>
              <a:t> </a:t>
            </a:r>
            <a:r>
              <a:rPr lang="de-DE" dirty="0" err="1"/>
              <a:t>sensor</a:t>
            </a:r>
            <a:endParaRPr lang="de-DE" dirty="0"/>
          </a:p>
        </p:txBody>
      </p:sp>
      <p:cxnSp>
        <p:nvCxnSpPr>
          <p:cNvPr id="27" name="Gerade Verbindung mit Pfeil 26">
            <a:extLst>
              <a:ext uri="{FF2B5EF4-FFF2-40B4-BE49-F238E27FC236}">
                <a16:creationId xmlns:a16="http://schemas.microsoft.com/office/drawing/2014/main" id="{B71F0268-CB27-81AA-7928-900E7A6F1881}"/>
              </a:ext>
            </a:extLst>
          </p:cNvPr>
          <p:cNvCxnSpPr>
            <a:cxnSpLocks/>
          </p:cNvCxnSpPr>
          <p:nvPr/>
        </p:nvCxnSpPr>
        <p:spPr>
          <a:xfrm>
            <a:off x="2323326" y="1056278"/>
            <a:ext cx="1044688" cy="697401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feld 27">
            <a:extLst>
              <a:ext uri="{FF2B5EF4-FFF2-40B4-BE49-F238E27FC236}">
                <a16:creationId xmlns:a16="http://schemas.microsoft.com/office/drawing/2014/main" id="{F6DE46EF-9745-8C0D-C818-43F94E57A8D0}"/>
              </a:ext>
            </a:extLst>
          </p:cNvPr>
          <p:cNvSpPr txBox="1"/>
          <p:nvPr/>
        </p:nvSpPr>
        <p:spPr>
          <a:xfrm>
            <a:off x="1101499" y="807954"/>
            <a:ext cx="13663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Header </a:t>
            </a:r>
            <a:r>
              <a:rPr lang="de-DE" dirty="0" err="1"/>
              <a:t>for</a:t>
            </a:r>
            <a:r>
              <a:rPr lang="de-DE" dirty="0"/>
              <a:t> </a:t>
            </a:r>
          </a:p>
          <a:p>
            <a:r>
              <a:rPr lang="de-DE" dirty="0"/>
              <a:t>CAN </a:t>
            </a:r>
            <a:r>
              <a:rPr lang="de-DE" dirty="0" err="1"/>
              <a:t>sensor</a:t>
            </a:r>
            <a:endParaRPr lang="de-DE" dirty="0"/>
          </a:p>
        </p:txBody>
      </p:sp>
      <p:cxnSp>
        <p:nvCxnSpPr>
          <p:cNvPr id="29" name="Gerade Verbindung mit Pfeil 28">
            <a:extLst>
              <a:ext uri="{FF2B5EF4-FFF2-40B4-BE49-F238E27FC236}">
                <a16:creationId xmlns:a16="http://schemas.microsoft.com/office/drawing/2014/main" id="{C58540FF-54E6-8D34-4C0A-30A64BF4CCD7}"/>
              </a:ext>
            </a:extLst>
          </p:cNvPr>
          <p:cNvCxnSpPr>
            <a:cxnSpLocks/>
          </p:cNvCxnSpPr>
          <p:nvPr/>
        </p:nvCxnSpPr>
        <p:spPr>
          <a:xfrm>
            <a:off x="4776280" y="941904"/>
            <a:ext cx="415601" cy="113813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feld 29">
            <a:extLst>
              <a:ext uri="{FF2B5EF4-FFF2-40B4-BE49-F238E27FC236}">
                <a16:creationId xmlns:a16="http://schemas.microsoft.com/office/drawing/2014/main" id="{F026F9B2-662A-69B9-98EE-5009B0A12ACC}"/>
              </a:ext>
            </a:extLst>
          </p:cNvPr>
          <p:cNvSpPr txBox="1"/>
          <p:nvPr/>
        </p:nvSpPr>
        <p:spPr>
          <a:xfrm>
            <a:off x="4019358" y="608231"/>
            <a:ext cx="17749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/>
              <a:t>„Bluepill“ </a:t>
            </a:r>
            <a:r>
              <a:rPr lang="de-DE" dirty="0" err="1"/>
              <a:t>board</a:t>
            </a:r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98A5F983-5F5C-BC9B-D629-B3EEA496458E}"/>
              </a:ext>
            </a:extLst>
          </p:cNvPr>
          <p:cNvSpPr txBox="1"/>
          <p:nvPr/>
        </p:nvSpPr>
        <p:spPr>
          <a:xfrm>
            <a:off x="2397303" y="4583229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3_GND</a:t>
            </a:r>
          </a:p>
        </p:txBody>
      </p:sp>
      <p:sp>
        <p:nvSpPr>
          <p:cNvPr id="6" name="Textfeld 5">
            <a:extLst>
              <a:ext uri="{FF2B5EF4-FFF2-40B4-BE49-F238E27FC236}">
                <a16:creationId xmlns:a16="http://schemas.microsoft.com/office/drawing/2014/main" id="{5247D272-171C-2869-30CC-5CFF23C08F43}"/>
              </a:ext>
            </a:extLst>
          </p:cNvPr>
          <p:cNvSpPr txBox="1"/>
          <p:nvPr/>
        </p:nvSpPr>
        <p:spPr>
          <a:xfrm>
            <a:off x="2467835" y="4383963"/>
            <a:ext cx="590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1_+5V</a:t>
            </a: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2EDA963C-55BE-D54E-0D4E-6DB7F962125E}"/>
              </a:ext>
            </a:extLst>
          </p:cNvPr>
          <p:cNvSpPr txBox="1"/>
          <p:nvPr/>
        </p:nvSpPr>
        <p:spPr>
          <a:xfrm>
            <a:off x="1964300" y="4184698"/>
            <a:ext cx="1093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2_quad. PAS1</a:t>
            </a:r>
          </a:p>
        </p:txBody>
      </p:sp>
      <p:sp>
        <p:nvSpPr>
          <p:cNvPr id="14" name="Textfeld 13">
            <a:extLst>
              <a:ext uri="{FF2B5EF4-FFF2-40B4-BE49-F238E27FC236}">
                <a16:creationId xmlns:a16="http://schemas.microsoft.com/office/drawing/2014/main" id="{E18CBAA1-E0D9-5342-1645-48E637C66B1C}"/>
              </a:ext>
            </a:extLst>
          </p:cNvPr>
          <p:cNvSpPr txBox="1"/>
          <p:nvPr/>
        </p:nvSpPr>
        <p:spPr>
          <a:xfrm>
            <a:off x="1964299" y="3985433"/>
            <a:ext cx="1093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6_quad. PAS2</a:t>
            </a:r>
          </a:p>
        </p:txBody>
      </p:sp>
      <p:sp>
        <p:nvSpPr>
          <p:cNvPr id="17" name="Textfeld 16">
            <a:extLst>
              <a:ext uri="{FF2B5EF4-FFF2-40B4-BE49-F238E27FC236}">
                <a16:creationId xmlns:a16="http://schemas.microsoft.com/office/drawing/2014/main" id="{0C3AF0A1-C1C5-DE31-D2D6-55D4FDDEF403}"/>
              </a:ext>
            </a:extLst>
          </p:cNvPr>
          <p:cNvSpPr txBox="1"/>
          <p:nvPr/>
        </p:nvSpPr>
        <p:spPr>
          <a:xfrm>
            <a:off x="2090745" y="3786168"/>
            <a:ext cx="96731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4_speed/dir</a:t>
            </a:r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C25B95B0-EBCE-D0ED-E360-B4636B372C87}"/>
              </a:ext>
            </a:extLst>
          </p:cNvPr>
          <p:cNvSpPr txBox="1"/>
          <p:nvPr/>
        </p:nvSpPr>
        <p:spPr>
          <a:xfrm>
            <a:off x="2283169" y="3586903"/>
            <a:ext cx="77489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5_torque</a:t>
            </a:r>
          </a:p>
        </p:txBody>
      </p:sp>
      <p:sp>
        <p:nvSpPr>
          <p:cNvPr id="26" name="Textfeld 25">
            <a:extLst>
              <a:ext uri="{FF2B5EF4-FFF2-40B4-BE49-F238E27FC236}">
                <a16:creationId xmlns:a16="http://schemas.microsoft.com/office/drawing/2014/main" id="{7A706D64-4A38-15B4-5480-E19F5CE5682E}"/>
              </a:ext>
            </a:extLst>
          </p:cNvPr>
          <p:cNvSpPr txBox="1"/>
          <p:nvPr/>
        </p:nvSpPr>
        <p:spPr>
          <a:xfrm>
            <a:off x="2414419" y="2791822"/>
            <a:ext cx="66075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5_GND</a:t>
            </a:r>
          </a:p>
        </p:txBody>
      </p:sp>
      <p:sp>
        <p:nvSpPr>
          <p:cNvPr id="31" name="Textfeld 30">
            <a:extLst>
              <a:ext uri="{FF2B5EF4-FFF2-40B4-BE49-F238E27FC236}">
                <a16:creationId xmlns:a16="http://schemas.microsoft.com/office/drawing/2014/main" id="{8379666D-17F4-A5D5-F153-8BF7F070AC98}"/>
              </a:ext>
            </a:extLst>
          </p:cNvPr>
          <p:cNvSpPr txBox="1"/>
          <p:nvPr/>
        </p:nvSpPr>
        <p:spPr>
          <a:xfrm>
            <a:off x="2484951" y="2592556"/>
            <a:ext cx="59022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1_+5V</a:t>
            </a:r>
          </a:p>
        </p:txBody>
      </p:sp>
      <p:sp>
        <p:nvSpPr>
          <p:cNvPr id="32" name="Textfeld 31">
            <a:extLst>
              <a:ext uri="{FF2B5EF4-FFF2-40B4-BE49-F238E27FC236}">
                <a16:creationId xmlns:a16="http://schemas.microsoft.com/office/drawing/2014/main" id="{3F392D0D-07B3-4C0C-74CC-53CE8863E9D5}"/>
              </a:ext>
            </a:extLst>
          </p:cNvPr>
          <p:cNvSpPr txBox="1"/>
          <p:nvPr/>
        </p:nvSpPr>
        <p:spPr>
          <a:xfrm>
            <a:off x="1981416" y="2393291"/>
            <a:ext cx="109376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3_quad. PAS1</a:t>
            </a:r>
          </a:p>
        </p:txBody>
      </p:sp>
      <p:sp>
        <p:nvSpPr>
          <p:cNvPr id="33" name="Textfeld 32">
            <a:extLst>
              <a:ext uri="{FF2B5EF4-FFF2-40B4-BE49-F238E27FC236}">
                <a16:creationId xmlns:a16="http://schemas.microsoft.com/office/drawing/2014/main" id="{91FB4EFE-D09B-A7AE-F323-FB5AB4D10AB7}"/>
              </a:ext>
            </a:extLst>
          </p:cNvPr>
          <p:cNvSpPr txBox="1"/>
          <p:nvPr/>
        </p:nvSpPr>
        <p:spPr>
          <a:xfrm>
            <a:off x="1981415" y="2194026"/>
            <a:ext cx="109376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6_quad. PAS2</a:t>
            </a:r>
          </a:p>
        </p:txBody>
      </p:sp>
      <p:sp>
        <p:nvSpPr>
          <p:cNvPr id="34" name="Textfeld 33">
            <a:extLst>
              <a:ext uri="{FF2B5EF4-FFF2-40B4-BE49-F238E27FC236}">
                <a16:creationId xmlns:a16="http://schemas.microsoft.com/office/drawing/2014/main" id="{933D6D75-528A-2527-05AB-2A74C5D884F4}"/>
              </a:ext>
            </a:extLst>
          </p:cNvPr>
          <p:cNvSpPr txBox="1"/>
          <p:nvPr/>
        </p:nvSpPr>
        <p:spPr>
          <a:xfrm>
            <a:off x="2303106" y="1994761"/>
            <a:ext cx="77207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2_CAN-L</a:t>
            </a:r>
          </a:p>
        </p:txBody>
      </p:sp>
      <p:sp>
        <p:nvSpPr>
          <p:cNvPr id="35" name="Textfeld 34">
            <a:extLst>
              <a:ext uri="{FF2B5EF4-FFF2-40B4-BE49-F238E27FC236}">
                <a16:creationId xmlns:a16="http://schemas.microsoft.com/office/drawing/2014/main" id="{6B05A77C-F40B-1164-70B0-9E7C91952E98}"/>
              </a:ext>
            </a:extLst>
          </p:cNvPr>
          <p:cNvSpPr txBox="1"/>
          <p:nvPr/>
        </p:nvSpPr>
        <p:spPr>
          <a:xfrm>
            <a:off x="2271046" y="1795496"/>
            <a:ext cx="80413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de-DE" sz="1200" dirty="0"/>
              <a:t>4_CAN-H</a:t>
            </a:r>
          </a:p>
        </p:txBody>
      </p:sp>
    </p:spTree>
    <p:extLst>
      <p:ext uri="{BB962C8B-B14F-4D97-AF65-F5344CB8AC3E}">
        <p14:creationId xmlns:p14="http://schemas.microsoft.com/office/powerpoint/2010/main" val="2078788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B1739ADD-D139-B1F2-1070-94A12C350C4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825" y="213968"/>
            <a:ext cx="10928350" cy="64300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52145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Text, Screenshot, Diagramm, Design enthält.&#10;&#10;KI-generierte Inhalte können fehlerhaft sein.">
            <a:extLst>
              <a:ext uri="{FF2B5EF4-FFF2-40B4-BE49-F238E27FC236}">
                <a16:creationId xmlns:a16="http://schemas.microsoft.com/office/drawing/2014/main" id="{1FB54EC9-9173-9C62-375C-F8C11B8933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0962" y="164334"/>
            <a:ext cx="9490075" cy="6693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9737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763F01B9-91A0-114C-528E-760F255EA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050" y="378618"/>
            <a:ext cx="6679372" cy="61007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70586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119</Words>
  <Application>Microsoft Office PowerPoint</Application>
  <PresentationFormat>Breitbild</PresentationFormat>
  <Paragraphs>35</Paragraphs>
  <Slides>5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eis</dc:creator>
  <cp:lastModifiedBy>eis</cp:lastModifiedBy>
  <cp:revision>4</cp:revision>
  <dcterms:created xsi:type="dcterms:W3CDTF">2025-11-02T15:36:55Z</dcterms:created>
  <dcterms:modified xsi:type="dcterms:W3CDTF">2025-11-09T17:36:02Z</dcterms:modified>
</cp:coreProperties>
</file>